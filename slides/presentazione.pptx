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Castaldi" userId="872a80c9-521e-4bea-8f54-636f116dac91" providerId="ADAL" clId="{A28509A5-53B9-443F-B1D9-24983923E08E}"/>
    <pc:docChg chg="mod modSld modMainMaster">
      <pc:chgData name="Francesco Castaldi" userId="872a80c9-521e-4bea-8f54-636f116dac91" providerId="ADAL" clId="{A28509A5-53B9-443F-B1D9-24983923E08E}" dt="2026-06-10T13:45:31.526" v="11" actId="1076"/>
      <pc:docMkLst>
        <pc:docMk/>
      </pc:docMkLst>
      <pc:sldChg chg="modSp mod">
        <pc:chgData name="Francesco Castaldi" userId="872a80c9-521e-4bea-8f54-636f116dac91" providerId="ADAL" clId="{A28509A5-53B9-443F-B1D9-24983923E08E}" dt="2026-06-10T13:45:31.526" v="11" actId="1076"/>
        <pc:sldMkLst>
          <pc:docMk/>
          <pc:sldMk cId="0" sldId="256"/>
        </pc:sldMkLst>
        <pc:spChg chg="mod">
          <ac:chgData name="Francesco Castaldi" userId="872a80c9-521e-4bea-8f54-636f116dac91" providerId="ADAL" clId="{A28509A5-53B9-443F-B1D9-24983923E08E}" dt="2026-06-10T13:45:31.526" v="11" actId="1076"/>
          <ac:spMkLst>
            <pc:docMk/>
            <pc:sldMk cId="0" sldId="256"/>
            <ac:spMk id="4" creationId="{00000000-0000-0000-0000-000000000000}"/>
          </ac:spMkLst>
        </pc:spChg>
      </pc:sldChg>
      <pc:sldMasterChg chg="addSp mod">
        <pc:chgData name="Francesco Castaldi" userId="872a80c9-521e-4bea-8f54-636f116dac91" providerId="ADAL" clId="{A28509A5-53B9-443F-B1D9-24983923E08E}" dt="2026-06-10T13:45:27.967" v="9" actId="33475"/>
        <pc:sldMasterMkLst>
          <pc:docMk/>
          <pc:sldMasterMk cId="2209977519" sldId="2147483648"/>
        </pc:sldMasterMkLst>
        <pc:spChg chg="add">
          <ac:chgData name="Francesco Castaldi" userId="872a80c9-521e-4bea-8f54-636f116dac91" providerId="ADAL" clId="{A28509A5-53B9-443F-B1D9-24983923E08E}" dt="2026-06-10T13:45:27.967" v="9" actId="33475"/>
          <ac:spMkLst>
            <pc:docMk/>
            <pc:sldMasterMk cId="2209977519" sldId="2147483648"/>
            <ac:spMk id="8" creationId="{EB16607D-0606-71E1-27A6-8A3745876565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B16607D-0606-71E1-27A6-8A374587656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56750" y="63500"/>
            <a:ext cx="2592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CONTENUTO AD USO INTERNO E/O DI TERZI AUTORIZZATI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B4D8"/>
                </a:solidFill>
              </a:defRPr>
            </a:pPr>
            <a:r>
              <a:t>Computational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Deblur &amp; Denoise su immagini LBC Cervical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56795"/>
            <a:ext cx="10515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 Università di Bologna — LM Informatica</a:t>
            </a:r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 Prof. </a:t>
            </a:r>
            <a:r>
              <a:rPr dirty="0" err="1"/>
              <a:t>Picciolomini</a:t>
            </a:r>
            <a:r>
              <a:rPr dirty="0"/>
              <a:t> &amp; Evangelista</a:t>
            </a:r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 A.A. 2025/2026</a:t>
            </a:r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</a:t>
            </a:r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 Metodi: Total Variation • </a:t>
            </a:r>
            <a:r>
              <a:rPr dirty="0" err="1"/>
              <a:t>UNet</a:t>
            </a:r>
            <a:r>
              <a:rPr dirty="0"/>
              <a:t> • </a:t>
            </a:r>
            <a:r>
              <a:rPr dirty="0" err="1"/>
              <a:t>DiffPIR</a:t>
            </a: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 Dataset: Mendeley LBC Cervical Cancer (962 </a:t>
            </a:r>
            <a:r>
              <a:rPr dirty="0" err="1"/>
              <a:t>immagini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</a:t>
            </a:r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E0E0E0"/>
                </a:solidFill>
              </a:defRPr>
            </a:pPr>
            <a:r>
              <a:rPr dirty="0"/>
              <a:t> </a:t>
            </a:r>
            <a:r>
              <a:rPr lang="it-IT" dirty="0"/>
              <a:t>Francesco</a:t>
            </a:r>
            <a:r>
              <a:rPr dirty="0"/>
              <a:t> Castaldi &amp; Paolo Fusco — Gruppo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Task: Deblur &amp; Denoise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Problema inverso mal posto: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  y = (k * x) + n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Degradazione: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• Blur Gaussiano: σ = 2, kernel 9×9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• Rumore AWGN: σₙ ∈ {0.005, 0.01, 0.05, 0.1}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• Stessa pipeline degradazione per tutti i metodi (seed=42)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Dataset: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• Mendeley LBC Cervical Cancer — 962 immagini, 4 classi diagnostiche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• Resize 256×256, normalizzazione [-1, 1]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</a:defRPr>
            </a:pPr>
            <a:r>
              <a:t>  • Split: 70% train (673) / 15% val (144) / 15% test (145)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3 Metodi, 3 Famiglie Metodologiche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• Total Variation (TV) — VARIAZIONALE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minimizza ||H*x - y||² + λ·TV(x) | Adam 150 iter, λ=0.005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Pro: nessun training, interpretabile, 32 dB a basso rumore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Contro: λ fisso, staircasing ad alto rumore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• UNet — END-TO-END DEEP LEARNING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architettura encoder-decoder, 4 livelli, 31M parametri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Training: MSE + Adam (lr=1e-4), multi-noise augmentation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Pro: inferenza rapidissima (26 ms/img), 24 dB con 1 sola epoca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Contro: richiede training, CPU limita le epoche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• DiffPIR — GENERATIVO (DIFFUSION)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DDPM + LightUNet (1.26M param) + FFT data-fidelity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DDIM sampling, 15 steps, λ=10, t_start=50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Pro: eccelle ad alto rumore (24.7 dB), ricostruisce dettagli persi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└─ Contro: lento (2s/img), allucinazioni a basso rumore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Risultati TV — Total Variation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2E"/>
                          </a:solidFill>
                        </a:defRPr>
                      </a:pPr>
                      <a:r>
                        <a:t>Noise σₙ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2E"/>
                          </a:solidFill>
                        </a:defRPr>
                      </a:pPr>
                      <a:r>
                        <a:t>PSNR (dB)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2E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2E"/>
                          </a:solidFill>
                        </a:defRPr>
                      </a:pPr>
                      <a:r>
                        <a:t>Iterazioni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32.09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0.911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32.04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0.909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30.42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26.54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λ_reg = 0.005 (scelto euristicamente: {0.001, 0.005, 0.01, 0.05, 0.1})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Ottimizzazione Adam, 150 iterazioni, learning rate 0.001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✔ Eccelle a basso rumore (32 dB)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✖ Cala ad alto rumore (26.5 dB) — λ fisso, staircasing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Risultati UNet — End-to-End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Noise σₙ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PSNR (dB)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Tempo/img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Epoche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24.07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0.789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3.87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(CPU)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24.05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3.89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(CPU)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23.45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3.83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(CPU)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21.87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0.554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3.78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(CPU)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Architettura: encoder-decoder 4 livelli (64→512), skip connections, 31M parametri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Training: multi-noise augmentation (σₙ random per batch), Adam lr=1e-4, batch=16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✔ 24 dB con 1 sola epoca — potenziale significativo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✔ Inferenza rapidissima (~26 ms/img in batch)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✖ Limitato a 1 epoca su CPU (~80 min/epoca) — su GPU con 50+ epoche supererebbe TV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Risultati DiffPIR — Generativo (Diffusion)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Noise σₙ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PSNR (dB)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Tempo/img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DDIM steps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16.67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0.235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2.01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17.32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0.270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1.97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22.49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0.512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2.04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24.68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0.664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2.00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LightUNet custom (1.26M param) addestrata su LBC. FFT-based data-fidelity.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DDIM sampling: t_start=50, λ=10, ζ=0 (deterministico)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✔ Eccelle ad alto rumore: 24.7 dB a σₙ=0.1 (migliore dei 3 metodi!)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✖ PESSIMO a basso rumore: 16.7 dB — il prior generativo allucina dettagli inesistenti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✖ Lento: 2 sec/img vs 0.3s (TV) e 0.026s (UNet)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Confronto: PSNR &amp; SSIM vs Noise Level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Tabella Comparativa Completa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Metodo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σₙ=0.005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σₙ=0.01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σₙ=0.05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σₙ=0.1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TV (PSNR)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32.09 dB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32.04 dB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30.42 dB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26.54 dB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TV (SSIM)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0.911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0.909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0.837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UNet (PSNR)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24.07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24.05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23.45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21.87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UNet (SSIM)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0.789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0.554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DiffPIR (PSNR)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16.67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17.32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22.49 dB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24.68 dB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DiffPIR (SSIM)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0.235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0.270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0.512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0.664 [BEST]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⏱ Tempo/img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TV: 0.3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TV: 0.3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TV: 0.3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TV: 0.3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UNet: 0.026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UNet: 0.026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UNet: 0.026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UNet: 0.026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DiffPIR: 2.0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DiffPIR: 2.0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DiffPIR: 2.0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DiffPIR: 2.0 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Conclusioni: Nessun Metodo Domina su Tutti i Regimi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BASSO RUMORE (σₙ ≤ 0.01): TV è la scelta migliore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 PSNR &gt; 32 dB, nessun training, immediatamente pronto, interpretabile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ALTO RUMORE (σₙ = 0.1): DiffPIR è il migliore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 24.7 dB PSNR, ricostruisce dettagli che metodi classici non possono recuperare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THROUGHPUT: UNet è imbattibile in velocità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 26 ms/img (100× più veloce di DiffPIR), 24 dB con 1 sola epoca CPU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    Con 50 epoche su GPU ci si aspetta che eguagli o superi TV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⚠ LEZIONI APPRESE: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• I modelli generativi allucinano a basso rumore (DiffPIR: 16.7 dB peggio dell'input!)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• La riproducibilità (stesso seed, stessa degradazione) è essenziale per il confronto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• Training su CPU è il collo di bottiglia principale (1 epoca UNet = 80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</a:defRPr>
            </a:pPr>
            <a:r>
              <a:t>Computational Imaging — Gruppo R | Francesco Castaldi, Paolo Fusco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Riproducibilità &amp; Organizzazione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Stessi input degradati per tutti i metodi (src/degradation/degradation.py)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Seed fisso 42 (configs/experiment.yaml)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26 test unitari (pytest): degradation, metrics, DiffPIR, UNet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4 notebook Jupyter: EDA, TV, UNet, DiffPIR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Codice modulare: ogni metodo in src/methods/&lt;metodo&gt;/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✔ GitHub: https://github.com/FrancescoCastaldi/ci-cervical-lbc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Parametri scelti euristicamente: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• TV: λ_reg=0.005 (testato {0.001, 0.005, 0.01, 0.05, 0.1})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• UNet: lr=1e-4, batch=16, multi-noise augmentation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• DiffPIR: t_start=50, λ=10, num_steps=15, ζ=0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Quick Start: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pip install -r requirements.txt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python scripts/run_tv.py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python scripts/run_unet.py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python scripts/run_diffpir.py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  python scripts/plot_results.py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1318</Words>
  <Application>Microsoft Office PowerPoint</Application>
  <PresentationFormat>Widescreen</PresentationFormat>
  <Paragraphs>225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Castaldi</cp:lastModifiedBy>
  <cp:revision>1</cp:revision>
  <dcterms:created xsi:type="dcterms:W3CDTF">2013-01-27T09:14:16Z</dcterms:created>
  <dcterms:modified xsi:type="dcterms:W3CDTF">2026-06-10T13:45:36Z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6a11ff-253c-4bad-ae0f-aa03ce5e55fe_Enabled">
    <vt:lpwstr>true</vt:lpwstr>
  </property>
  <property fmtid="{D5CDD505-2E9C-101B-9397-08002B2CF9AE}" pid="3" name="MSIP_Label_bd6a11ff-253c-4bad-ae0f-aa03ce5e55fe_SetDate">
    <vt:lpwstr>2026-06-10T13:45:27Z</vt:lpwstr>
  </property>
  <property fmtid="{D5CDD505-2E9C-101B-9397-08002B2CF9AE}" pid="4" name="MSIP_Label_bd6a11ff-253c-4bad-ae0f-aa03ce5e55fe_Method">
    <vt:lpwstr>Standard</vt:lpwstr>
  </property>
  <property fmtid="{D5CDD505-2E9C-101B-9397-08002B2CF9AE}" pid="5" name="MSIP_Label_bd6a11ff-253c-4bad-ae0f-aa03ce5e55fe_Name">
    <vt:lpwstr>Internal Use</vt:lpwstr>
  </property>
  <property fmtid="{D5CDD505-2E9C-101B-9397-08002B2CF9AE}" pid="6" name="MSIP_Label_bd6a11ff-253c-4bad-ae0f-aa03ce5e55fe_SiteId">
    <vt:lpwstr>b7d887ff-19c9-4884-a5c6-416ae21337ae</vt:lpwstr>
  </property>
  <property fmtid="{D5CDD505-2E9C-101B-9397-08002B2CF9AE}" pid="7" name="MSIP_Label_bd6a11ff-253c-4bad-ae0f-aa03ce5e55fe_ActionId">
    <vt:lpwstr>6edde2cd-5681-40b5-b475-5c8eb8a48646</vt:lpwstr>
  </property>
  <property fmtid="{D5CDD505-2E9C-101B-9397-08002B2CF9AE}" pid="8" name="MSIP_Label_bd6a11ff-253c-4bad-ae0f-aa03ce5e55fe_ContentBits">
    <vt:lpwstr>1</vt:lpwstr>
  </property>
  <property fmtid="{D5CDD505-2E9C-101B-9397-08002B2CF9AE}" pid="9" name="MSIP_Label_bd6a11ff-253c-4bad-ae0f-aa03ce5e55fe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CONTENUTO AD USO INTERNO E/O DI TERZI AUTORIZZATI</vt:lpwstr>
  </property>
</Properties>
</file>