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0B4D8"/>
                </a:solidFill>
              </a:defRPr>
            </a:pPr>
            <a:r>
              <a:t>Computational Imaging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Deblur &amp; Denoise su immagini LBC Cervical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 Università di Bologna — LM Informatica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 Prof. Picciolomini &amp; Evangelista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 A.A. 2025/2026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 Metodi: Total Variation • UNet • DiffPIR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 Dataset: Mendeley LBC Cervical Cancer (962 immagini)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</a:t>
            </a: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2200">
                <a:solidFill>
                  <a:srgbClr val="E0E0E0"/>
                </a:solidFill>
              </a:defRPr>
            </a:pPr>
            <a:r>
              <a:t> François Castaldi &amp; Paolo Fusco — Gruppo 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Task: Deblur &amp; Denoise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Problema inverso mal posto: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  y = (k * x) + n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Degradazione: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Blur Gaussiano: σ = 2, kernel 9×9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Rumore AWGN: σₙ ∈ {0.005, 0.01, 0.05, 0.1}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Stessa pipeline degradazione per tutti i metodi (seed=42)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Dataset: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Mendeley LBC Cervical Cancer — 962 immagini, 4 classi diagnostiche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Resize 256×256, normalizzazione [-1, 1]</a:t>
            </a:r>
          </a:p>
          <a:p>
            <a:pPr>
              <a:spcAft>
                <a:spcPts val="800"/>
              </a:spcAft>
              <a:defRPr sz="2000">
                <a:solidFill>
                  <a:srgbClr val="E0E0E0"/>
                </a:solidFill>
              </a:defRPr>
            </a:pPr>
            <a:r>
              <a:t>  • Split: 70% train (673) / 15% val (144) / 15% test (145)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3 Metodi, 3 Famiglie Metodologiche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• Total Variation (TV) — VARIAZIONALE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minimizza ||H*x - y||² + λ·TV(x) | Adam 150 iter, λ=0.005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Pro: nessun training, interpretabile, 32 dB a basso rumore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Contro: λ fisso, staircasing ad alto rumore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• UNet — END-TO-END DEEP LEARNING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architettura encoder-decoder, 4 livelli, 31M parametri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Training: MSE + Adam (lr=1e-4), multi-noise augmentation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Pro: inferenza rapidissima (26 ms/img), 24 dB con 1 sola epoca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Contro: richiede training, CPU limita le epoche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• DiffPIR — GENERATIVO (DIFFUSION)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DDPM + LightUNet (1.26M param) + FFT data-fidelity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DDIM sampling, 15 steps, λ=10, t_start=50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Pro: eccelle ad alto rumore (24.7 dB), ricostruisce dettagli persi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└─ Contro: lento (2s/img), allucinazioni a basso rumore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Risultati TV — Total Variation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1A1A2E"/>
                          </a:solidFill>
                        </a:defRPr>
                      </a:pPr>
                      <a:r>
                        <a:t>Noise σₙ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1A1A2E"/>
                          </a:solidFill>
                        </a:defRPr>
                      </a:pPr>
                      <a:r>
                        <a:t>PSNR (dB)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1A1A2E"/>
                          </a:solidFill>
                        </a:defRPr>
                      </a:pPr>
                      <a:r>
                        <a:t>SSIM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1A1A2E"/>
                          </a:solidFill>
                        </a:defRPr>
                      </a:pPr>
                      <a:r>
                        <a:t>Iterazioni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32.09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0.911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32.04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0.909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30.42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0.837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26.54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0.586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>
                          <a:solidFill>
                            <a:srgbClr val="FFFFFF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λ_reg = 0.005 (scelto euristicamente: {0.001, 0.005, 0.01, 0.05, 0.1})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Ottimizzazione Adam, 150 iterazioni, learning rate 0.001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✔ Eccelle a basso rumore (32 dB)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✖ Cala ad alto rumore (26.5 dB) — λ fisso, staircasing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Risultati UNet — End-to-End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Noise σₙ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PSNR (dB)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SSIM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Tempo/img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Epoche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24.07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0.789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3.87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 (CPU)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24.05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0.785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3.89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 (CPU)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23.45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0.700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3.83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 (CPU)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21.87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0.554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3.78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 (CPU)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Architettura: encoder-decoder 4 livelli (64→512), skip connections, 31M parametri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Training: multi-noise augmentation (σₙ random per batch), Adam lr=1e-4, batch=16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✔ 24 dB con 1 sola epoca — potenziale significativo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✔ Inferenza rapidissima (~26 ms/img in batch)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✖ Limitato a 1 epoca su CPU (~80 min/epoca) — su GPU con 50+ epoche supererebbe TV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Risultati DiffPIR — Generativo (Diffusion)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Noise σₙ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PSNR (dB)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SSIM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Tempo/img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1A1A2E"/>
                          </a:solidFill>
                        </a:defRPr>
                      </a:pPr>
                      <a:r>
                        <a:t>DDIM steps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16.67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0.235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2.01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17.32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0.270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1.97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22.49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0.512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2.04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24.68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0.664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2.00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LightUNet custom (1.26M param) addestrata su LBC. FFT-based data-fidelity.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DDIM sampling: t_start=50, λ=10, ζ=0 (deterministico)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✔ Eccelle ad alto rumore: 24.7 dB a σₙ=0.1 (migliore dei 3 metodi!)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✖ PESSIMO a basso rumore: 16.7 dB — il prior generativo allucina dettagli inesistenti</a:t>
            </a:r>
          </a:p>
          <a:p>
            <a:pPr>
              <a:spcAft>
                <a:spcPts val="800"/>
              </a:spcAft>
              <a:defRPr sz="1600">
                <a:solidFill>
                  <a:srgbClr val="E0E0E0"/>
                </a:solidFill>
              </a:defRPr>
            </a:pPr>
            <a:r>
              <a:t>✖ Lento: 2 sec/img vs 0.3s (TV) e 0.026s (UNet)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Confronto: PSNR &amp; SSIM vs Noise Level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Tabella Comparativa Completa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7548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1A1A2E"/>
                          </a:solidFill>
                        </a:defRPr>
                      </a:pPr>
                      <a:r>
                        <a:t>Metodo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1A1A2E"/>
                          </a:solidFill>
                        </a:defRPr>
                      </a:pPr>
                      <a:r>
                        <a:t>σₙ=0.005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1A1A2E"/>
                          </a:solidFill>
                        </a:defRPr>
                      </a:pPr>
                      <a:r>
                        <a:t>σₙ=0.01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1A1A2E"/>
                          </a:solidFill>
                        </a:defRPr>
                      </a:pPr>
                      <a:r>
                        <a:t>σₙ=0.05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1A1A2E"/>
                          </a:solidFill>
                        </a:defRPr>
                      </a:pPr>
                      <a:r>
                        <a:t>σₙ=0.1</a:t>
                      </a:r>
                    </a:p>
                  </a:txBody>
                  <a:tcPr>
                    <a:solidFill>
                      <a:srgbClr val="00B4D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 (PSNR)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32.09 dB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32.04 dB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30.42 dB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26.54 dB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 (SSIM)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0.911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0.909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0.837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0.586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 (PSNR)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24.07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24.05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23.45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21.87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 (SSIM)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0.789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0.785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0.700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0.554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 (PSNR)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16.67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17.32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22.49 dB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24.68 dB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 (SSIM)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0.235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0.270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0.512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0.664 [BEST]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⏱ Tempo/img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TV: 0.3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TV: 0.3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TV: 0.3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TV: 0.3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UNet: 0.026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UNet: 0.026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UNet: 0.026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UNet: 0.026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DiffPIR: 2.0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DiffPIR: 2.0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DiffPIR: 2.0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DiffPIR: 2.0 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Conclusioni: Nessun Metodo Domina su Tutti i Regimi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BASSO RUMORE (σₙ ≤ 0.01): TV è la scelta migliore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 PSNR &gt; 32 dB, nessun training, immediatamente pronto, interpretabile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ALTO RUMORE (σₙ = 0.1): DiffPIR è il migliore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 24.7 dB PSNR, ricostruisce dettagli che metodi classici non possono recuperare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THROUGHPUT: UNet è imbattibile in velocità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 26 ms/img (100× più veloce di DiffPIR), 24 dB con 1 sola epoca CPU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    Con 50 epoche su GPU ci si aspetta che eguagli o superi TV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⚠ LEZIONI APPRESE: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I modelli generativi allucinano a basso rumore (DiffPIR: 16.7 dB peggio dell'input!)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La riproducibilità (stesso seed, stessa degradazione) è essenziale per il confronto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Training su CPU è il collo di bottiglia principale (1 epoca UNet = 80 min)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00B4D8"/>
                </a:solidFill>
              </a:defRPr>
            </a:pPr>
            <a:r>
              <a:t>Computational Imaging — Gruppo R | Francesco Castaldi, Paolo Fusco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B4D8"/>
                </a:solidFill>
              </a:defRPr>
            </a:pPr>
            <a:r>
              <a:t>Riproducibilità &amp; Organizzazione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Stessi input degradati per tutti i metodi (src/degradation/degradation.py)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Seed fisso 42 (configs/experiment.yaml)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26 test unitari (pytest): degradation, metrics, DiffPIR, UNet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4 notebook Jupyter: EDA, TV, UNet, DiffPIR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Codice modulare: ogni metodo in src/methods/&lt;metodo&gt;/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✔ GitHub: https://github.com/FrancescoCastaldi/ci-cervical-lbc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Parametri scelti euristicamente: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TV: λ_reg=0.005 (testato {0.001, 0.005, 0.01, 0.05, 0.1})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UNet: lr=1e-4, batch=16, multi-noise augmentation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• DiffPIR: t_start=50, λ=10, num_steps=15, ζ=0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Quick Start: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pip install -r requirements.txt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python scripts/run_tv.py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python scripts/run_unet.py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python scripts/run_diffpir.py</a:t>
            </a:r>
          </a:p>
          <a:p>
            <a:pPr>
              <a:spcAft>
                <a:spcPts val="800"/>
              </a:spcAft>
              <a:defRPr sz="1800">
                <a:solidFill>
                  <a:srgbClr val="E0E0E0"/>
                </a:solidFill>
              </a:defRPr>
            </a:pPr>
            <a:r>
              <a:t>  python scripts/plot_results.py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