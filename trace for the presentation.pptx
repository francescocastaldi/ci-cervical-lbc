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27A89-D5F7-4EF0-8F0C-B209C77E5F6C}" v="1" dt="2026-06-13T20:25:51.5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94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7426" y="413130"/>
            <a:ext cx="37401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BC2B0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BC2B0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BC2B0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BC2B0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40953" y="5982812"/>
            <a:ext cx="1071412" cy="7479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4946" y="413130"/>
            <a:ext cx="532510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BC2B0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94536" y="1575053"/>
            <a:ext cx="8794241" cy="469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1C9685B-F6E1-3E62-F8F8-AEC9BBC5292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556750" y="63500"/>
            <a:ext cx="2592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CONTENUTO AD USO INTERNO E/O DI TERZI AUTORIZZATI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82428"/>
            <a:ext cx="12192000" cy="6940427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2B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67784" y="188595"/>
            <a:ext cx="0" cy="6409055"/>
          </a:xfrm>
          <a:custGeom>
            <a:avLst/>
            <a:gdLst/>
            <a:ahLst/>
            <a:cxnLst/>
            <a:rect l="l" t="t" r="r" b="b"/>
            <a:pathLst>
              <a:path h="6409055">
                <a:moveTo>
                  <a:pt x="0" y="0"/>
                </a:moveTo>
                <a:lnTo>
                  <a:pt x="0" y="6408762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120" y="1700783"/>
            <a:ext cx="3461639" cy="244830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544312" y="824733"/>
            <a:ext cx="53022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2965" marR="5080" indent="-850900" algn="ctr">
              <a:lnSpc>
                <a:spcPct val="100000"/>
              </a:lnSpc>
              <a:spcBef>
                <a:spcPts val="100"/>
              </a:spcBef>
            </a:pPr>
            <a:r>
              <a:rPr lang="it-IT" sz="4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CI-CERVICAL-LBC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8790" y="3346573"/>
            <a:ext cx="5302250" cy="1342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6889" marR="5080" indent="-1774189">
              <a:lnSpc>
                <a:spcPct val="120000"/>
              </a:lnSpc>
              <a:spcBef>
                <a:spcPts val="95"/>
              </a:spcBef>
            </a:pPr>
            <a:r>
              <a:rPr sz="3600" b="1" spc="-35" dirty="0">
                <a:solidFill>
                  <a:srgbClr val="FFFFFF"/>
                </a:solidFill>
                <a:latin typeface="Tahoma"/>
                <a:cs typeface="Tahoma"/>
              </a:rPr>
              <a:t>Computational</a:t>
            </a:r>
            <a:r>
              <a:rPr sz="3600" b="1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30" dirty="0">
                <a:solidFill>
                  <a:srgbClr val="FFFFFF"/>
                </a:solidFill>
                <a:latin typeface="Tahoma"/>
                <a:cs typeface="Tahoma"/>
              </a:rPr>
              <a:t>imaging </a:t>
            </a:r>
            <a:r>
              <a:rPr sz="3600" b="1" spc="-240" dirty="0">
                <a:solidFill>
                  <a:srgbClr val="FFFFFF"/>
                </a:solidFill>
                <a:latin typeface="Tahoma"/>
                <a:cs typeface="Tahoma"/>
              </a:rPr>
              <a:t>2025-</a:t>
            </a:r>
            <a:r>
              <a:rPr sz="3600" b="1" spc="-305" dirty="0">
                <a:solidFill>
                  <a:srgbClr val="FFFFFF"/>
                </a:solidFill>
                <a:latin typeface="Tahoma"/>
                <a:cs typeface="Tahoma"/>
              </a:rPr>
              <a:t>26</a:t>
            </a:r>
            <a:endParaRPr sz="36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9040" y="5249745"/>
            <a:ext cx="6992620" cy="98742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345"/>
              </a:spcBef>
            </a:pPr>
            <a:r>
              <a:rPr sz="2400" b="1" spc="-35" dirty="0">
                <a:solidFill>
                  <a:srgbClr val="FFFFFF"/>
                </a:solidFill>
                <a:latin typeface="Tahoma"/>
                <a:cs typeface="Tahoma"/>
              </a:rPr>
              <a:t>Elena</a:t>
            </a:r>
            <a:r>
              <a:rPr sz="2400" b="1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55" dirty="0">
                <a:solidFill>
                  <a:srgbClr val="FFFFFF"/>
                </a:solidFill>
                <a:latin typeface="Tahoma"/>
                <a:cs typeface="Tahoma"/>
              </a:rPr>
              <a:t>Loli</a:t>
            </a:r>
            <a:r>
              <a:rPr sz="24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30" dirty="0">
                <a:solidFill>
                  <a:srgbClr val="FFFFFF"/>
                </a:solidFill>
                <a:latin typeface="Tahoma"/>
                <a:cs typeface="Tahoma"/>
              </a:rPr>
              <a:t>Piccolomini-</a:t>
            </a:r>
            <a:r>
              <a:rPr sz="24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Davide</a:t>
            </a:r>
            <a:r>
              <a:rPr sz="24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Evangelista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Dipartimento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di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Informatica</a:t>
            </a:r>
            <a:r>
              <a:rPr sz="20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spc="4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Scienza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Verdana"/>
                <a:cs typeface="Verdana"/>
              </a:rPr>
              <a:t>Ingegneria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80" dirty="0">
                <a:solidFill>
                  <a:srgbClr val="FFFFFF"/>
                </a:solidFill>
                <a:latin typeface="Verdana"/>
                <a:cs typeface="Verdana"/>
              </a:rPr>
              <a:t>(DISI)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Description</a:t>
            </a:r>
            <a:r>
              <a:rPr spc="-95" dirty="0"/>
              <a:t> </a:t>
            </a:r>
            <a:r>
              <a:rPr spc="-85" dirty="0"/>
              <a:t>of</a:t>
            </a:r>
            <a:r>
              <a:rPr spc="-90" dirty="0"/>
              <a:t> </a:t>
            </a:r>
            <a:r>
              <a:rPr spc="-70" dirty="0"/>
              <a:t>the</a:t>
            </a:r>
            <a:r>
              <a:rPr spc="-85" dirty="0"/>
              <a:t> </a:t>
            </a:r>
            <a:r>
              <a:rPr spc="-10" dirty="0"/>
              <a:t>project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4804" y="390143"/>
            <a:ext cx="116839" cy="476250"/>
            <a:chOff x="11004804" y="390143"/>
            <a:chExt cx="116839" cy="476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86490" y="640439"/>
              <a:ext cx="23317" cy="366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4804" y="390143"/>
              <a:ext cx="116585" cy="4762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5723" y="321563"/>
            <a:ext cx="116585" cy="476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494" y="715115"/>
            <a:ext cx="23317" cy="4121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94536" y="1575053"/>
            <a:ext cx="3579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Insert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title,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here.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258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4804" y="390143"/>
            <a:ext cx="116839" cy="476250"/>
            <a:chOff x="11004804" y="390143"/>
            <a:chExt cx="116839" cy="476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86490" y="640439"/>
              <a:ext cx="23317" cy="366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4804" y="390143"/>
              <a:ext cx="116585" cy="4762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5723" y="321563"/>
            <a:ext cx="116585" cy="476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494" y="715115"/>
            <a:ext cx="23317" cy="4121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94536" y="1575053"/>
            <a:ext cx="692848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Here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describe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algorithms)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required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trace.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Give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theoretical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issues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possible,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short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explanation.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Implementation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4804" y="390143"/>
            <a:ext cx="116839" cy="476250"/>
            <a:chOff x="11004804" y="390143"/>
            <a:chExt cx="116839" cy="476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86490" y="640439"/>
              <a:ext cx="23317" cy="366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4804" y="390143"/>
              <a:ext cx="116585" cy="4762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5723" y="321563"/>
            <a:ext cx="116585" cy="476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494" y="715115"/>
            <a:ext cx="23317" cy="4121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Describe</a:t>
            </a:r>
            <a:r>
              <a:rPr spc="-3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main</a:t>
            </a:r>
            <a:r>
              <a:rPr spc="-35" dirty="0"/>
              <a:t> </a:t>
            </a:r>
            <a:r>
              <a:rPr dirty="0"/>
              <a:t>steps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spc="-10" dirty="0"/>
              <a:t>implementation.</a:t>
            </a: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/>
              <a:t>For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algorithm,</a:t>
            </a:r>
            <a:r>
              <a:rPr spc="-20" dirty="0"/>
              <a:t> </a:t>
            </a:r>
            <a:r>
              <a:rPr dirty="0"/>
              <a:t>describe</a:t>
            </a:r>
            <a:r>
              <a:rPr spc="-2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main</a:t>
            </a:r>
            <a:r>
              <a:rPr spc="-25" dirty="0"/>
              <a:t> </a:t>
            </a:r>
            <a:r>
              <a:rPr dirty="0"/>
              <a:t>steps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algorithm.</a:t>
            </a:r>
          </a:p>
          <a:p>
            <a:pPr marL="12700" marR="439420">
              <a:lnSpc>
                <a:spcPct val="100000"/>
              </a:lnSpc>
              <a:spcBef>
                <a:spcPts val="2160"/>
              </a:spcBef>
            </a:pPr>
            <a:r>
              <a:rPr dirty="0"/>
              <a:t>If</a:t>
            </a:r>
            <a:r>
              <a:rPr spc="-45" dirty="0"/>
              <a:t> </a:t>
            </a:r>
            <a:r>
              <a:rPr dirty="0"/>
              <a:t>you</a:t>
            </a:r>
            <a:r>
              <a:rPr spc="-40" dirty="0"/>
              <a:t> </a:t>
            </a:r>
            <a:r>
              <a:rPr dirty="0"/>
              <a:t>use</a:t>
            </a:r>
            <a:r>
              <a:rPr spc="-4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dirty="0"/>
              <a:t>network,</a:t>
            </a:r>
            <a:r>
              <a:rPr spc="-30" dirty="0"/>
              <a:t> </a:t>
            </a:r>
            <a:r>
              <a:rPr dirty="0"/>
              <a:t>describe</a:t>
            </a:r>
            <a:r>
              <a:rPr spc="-30" dirty="0"/>
              <a:t> </a:t>
            </a:r>
            <a:r>
              <a:rPr dirty="0"/>
              <a:t>(even</a:t>
            </a:r>
            <a:r>
              <a:rPr spc="-2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graphical</a:t>
            </a:r>
            <a:r>
              <a:rPr spc="-45" dirty="0"/>
              <a:t> </a:t>
            </a:r>
            <a:r>
              <a:rPr dirty="0"/>
              <a:t>scheme)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network architecture,</a:t>
            </a:r>
            <a:r>
              <a:rPr spc="-2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input</a:t>
            </a:r>
            <a:r>
              <a:rPr spc="-4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output,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loss</a:t>
            </a:r>
            <a:r>
              <a:rPr spc="-45" dirty="0"/>
              <a:t> </a:t>
            </a:r>
            <a:r>
              <a:rPr dirty="0"/>
              <a:t>function,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training</a:t>
            </a:r>
            <a:r>
              <a:rPr spc="-40" dirty="0"/>
              <a:t> </a:t>
            </a:r>
            <a:r>
              <a:rPr spc="-10" dirty="0"/>
              <a:t>parameters</a:t>
            </a:r>
            <a:r>
              <a:rPr spc="-50" dirty="0"/>
              <a:t> </a:t>
            </a:r>
            <a:r>
              <a:rPr spc="-10" dirty="0"/>
              <a:t>used…</a:t>
            </a: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/>
              <a:t>Here</a:t>
            </a:r>
            <a:r>
              <a:rPr spc="-20" dirty="0"/>
              <a:t> </a:t>
            </a:r>
            <a:r>
              <a:rPr dirty="0"/>
              <a:t>you</a:t>
            </a:r>
            <a:r>
              <a:rPr spc="-25" dirty="0"/>
              <a:t> </a:t>
            </a:r>
            <a:r>
              <a:rPr dirty="0"/>
              <a:t>can</a:t>
            </a:r>
            <a:r>
              <a:rPr spc="-20" dirty="0"/>
              <a:t> </a:t>
            </a:r>
            <a:r>
              <a:rPr dirty="0"/>
              <a:t>also</a:t>
            </a:r>
            <a:r>
              <a:rPr spc="-35" dirty="0"/>
              <a:t> </a:t>
            </a:r>
            <a:r>
              <a:rPr dirty="0"/>
              <a:t>describe</a:t>
            </a:r>
            <a:r>
              <a:rPr spc="-1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set</a:t>
            </a:r>
            <a:r>
              <a:rPr spc="-45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you</a:t>
            </a:r>
            <a:r>
              <a:rPr spc="-20" dirty="0"/>
              <a:t> </a:t>
            </a:r>
            <a:r>
              <a:rPr dirty="0"/>
              <a:t>use,</a:t>
            </a:r>
            <a:r>
              <a:rPr spc="-45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you</a:t>
            </a:r>
            <a:r>
              <a:rPr spc="-25" dirty="0"/>
              <a:t> </a:t>
            </a:r>
            <a:r>
              <a:rPr dirty="0"/>
              <a:t>can</a:t>
            </a:r>
            <a:r>
              <a:rPr spc="-40" dirty="0"/>
              <a:t> 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it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next</a:t>
            </a:r>
            <a:r>
              <a:rPr spc="-25" dirty="0"/>
              <a:t> </a:t>
            </a:r>
            <a:r>
              <a:rPr spc="-10" dirty="0"/>
              <a:t>section.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Introduce</a:t>
            </a:r>
            <a:r>
              <a:rPr spc="-40" dirty="0"/>
              <a:t> </a:t>
            </a:r>
            <a:r>
              <a:rPr spc="-80" dirty="0"/>
              <a:t>the</a:t>
            </a:r>
            <a:r>
              <a:rPr spc="-40" dirty="0"/>
              <a:t> </a:t>
            </a:r>
            <a:r>
              <a:rPr spc="-50" dirty="0"/>
              <a:t>experiments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4804" y="390143"/>
            <a:ext cx="116839" cy="476250"/>
            <a:chOff x="11004804" y="390143"/>
            <a:chExt cx="116839" cy="476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86490" y="640439"/>
              <a:ext cx="23317" cy="366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4804" y="390143"/>
              <a:ext cx="116585" cy="4762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5723" y="321563"/>
            <a:ext cx="116585" cy="476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494" y="715115"/>
            <a:ext cx="23317" cy="4121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Introduce</a:t>
            </a:r>
            <a:r>
              <a:rPr spc="-4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application</a:t>
            </a:r>
            <a:r>
              <a:rPr spc="-1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you</a:t>
            </a:r>
            <a:r>
              <a:rPr spc="-45" dirty="0"/>
              <a:t> </a:t>
            </a:r>
            <a:r>
              <a:rPr dirty="0"/>
              <a:t>must</a:t>
            </a:r>
            <a:r>
              <a:rPr spc="-45" dirty="0"/>
              <a:t> </a:t>
            </a:r>
            <a:r>
              <a:rPr dirty="0"/>
              <a:t>test:</a:t>
            </a:r>
            <a:r>
              <a:rPr spc="-20" dirty="0"/>
              <a:t> deblur,</a:t>
            </a:r>
            <a:r>
              <a:rPr spc="-40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spc="-25" dirty="0"/>
              <a:t>tomography,</a:t>
            </a:r>
            <a:r>
              <a:rPr spc="-35" dirty="0"/>
              <a:t> </a:t>
            </a:r>
            <a:r>
              <a:rPr dirty="0"/>
              <a:t>or</a:t>
            </a:r>
            <a:r>
              <a:rPr spc="-40" dirty="0"/>
              <a:t> </a:t>
            </a:r>
            <a:r>
              <a:rPr dirty="0"/>
              <a:t>super</a:t>
            </a:r>
            <a:r>
              <a:rPr spc="-40" dirty="0"/>
              <a:t> </a:t>
            </a:r>
            <a:r>
              <a:rPr spc="-10" dirty="0"/>
              <a:t>resolution.</a:t>
            </a:r>
          </a:p>
          <a:p>
            <a:pPr marL="84455">
              <a:lnSpc>
                <a:spcPct val="100000"/>
              </a:lnSpc>
              <a:spcBef>
                <a:spcPts val="2160"/>
              </a:spcBef>
            </a:pPr>
            <a:r>
              <a:rPr dirty="0"/>
              <a:t>Explain</a:t>
            </a:r>
            <a:r>
              <a:rPr spc="-35" dirty="0"/>
              <a:t> </a:t>
            </a:r>
            <a:r>
              <a:rPr dirty="0"/>
              <a:t>any</a:t>
            </a:r>
            <a:r>
              <a:rPr spc="-35" dirty="0"/>
              <a:t> </a:t>
            </a:r>
            <a:r>
              <a:rPr dirty="0"/>
              <a:t>particular</a:t>
            </a:r>
            <a:r>
              <a:rPr spc="-20" dirty="0"/>
              <a:t> </a:t>
            </a:r>
            <a:r>
              <a:rPr dirty="0"/>
              <a:t>detail</a:t>
            </a:r>
            <a:r>
              <a:rPr spc="-25" dirty="0"/>
              <a:t> </a:t>
            </a:r>
            <a:r>
              <a:rPr dirty="0"/>
              <a:t>about</a:t>
            </a:r>
            <a:r>
              <a:rPr spc="-40" dirty="0"/>
              <a:t> </a:t>
            </a:r>
            <a:r>
              <a:rPr dirty="0"/>
              <a:t>it,</a:t>
            </a:r>
            <a:r>
              <a:rPr spc="-20" dirty="0"/>
              <a:t> </a:t>
            </a:r>
            <a:r>
              <a:rPr dirty="0"/>
              <a:t>such</a:t>
            </a:r>
            <a:r>
              <a:rPr spc="-35" dirty="0"/>
              <a:t> </a:t>
            </a:r>
            <a:r>
              <a:rPr dirty="0"/>
              <a:t>as,</a:t>
            </a:r>
            <a:r>
              <a:rPr spc="-4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10" dirty="0"/>
              <a:t>example,</a:t>
            </a:r>
            <a:r>
              <a:rPr spc="-4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geometry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case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45" dirty="0"/>
              <a:t>CT,</a:t>
            </a:r>
            <a:r>
              <a:rPr spc="-35" dirty="0"/>
              <a:t> </a:t>
            </a:r>
            <a:r>
              <a:rPr spc="-25" dirty="0"/>
              <a:t>the</a:t>
            </a:r>
          </a:p>
          <a:p>
            <a:pPr marL="84455">
              <a:lnSpc>
                <a:spcPct val="100000"/>
              </a:lnSpc>
            </a:pPr>
            <a:r>
              <a:rPr dirty="0"/>
              <a:t>blurring</a:t>
            </a:r>
            <a:r>
              <a:rPr spc="-20" dirty="0"/>
              <a:t> </a:t>
            </a:r>
            <a:r>
              <a:rPr spc="-10" dirty="0"/>
              <a:t>kernel</a:t>
            </a:r>
            <a:r>
              <a:rPr spc="-4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case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20" dirty="0"/>
              <a:t>deblur,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general</a:t>
            </a:r>
            <a:r>
              <a:rPr spc="-4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noise</a:t>
            </a:r>
            <a:r>
              <a:rPr spc="-40" dirty="0"/>
              <a:t> </a:t>
            </a:r>
            <a:r>
              <a:rPr dirty="0"/>
              <a:t>added</a:t>
            </a:r>
            <a:r>
              <a:rPr spc="-2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data.</a:t>
            </a:r>
          </a:p>
          <a:p>
            <a:pPr marL="84455">
              <a:lnSpc>
                <a:spcPct val="100000"/>
              </a:lnSpc>
              <a:spcBef>
                <a:spcPts val="2160"/>
              </a:spcBef>
            </a:pPr>
            <a:r>
              <a:rPr dirty="0"/>
              <a:t>If</a:t>
            </a:r>
            <a:r>
              <a:rPr spc="-35" dirty="0"/>
              <a:t> </a:t>
            </a:r>
            <a:r>
              <a:rPr dirty="0"/>
              <a:t>you</a:t>
            </a:r>
            <a:r>
              <a:rPr spc="-35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already</a:t>
            </a:r>
            <a:r>
              <a:rPr spc="-25" dirty="0"/>
              <a:t> </a:t>
            </a:r>
            <a:r>
              <a:rPr dirty="0"/>
              <a:t>described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set,</a:t>
            </a:r>
            <a:r>
              <a:rPr spc="-3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moment.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Presentation</a:t>
            </a:r>
            <a:r>
              <a:rPr spc="-65" dirty="0"/>
              <a:t> </a:t>
            </a:r>
            <a:r>
              <a:rPr spc="-85" dirty="0"/>
              <a:t>of</a:t>
            </a:r>
            <a:r>
              <a:rPr spc="-75" dirty="0"/>
              <a:t> </a:t>
            </a:r>
            <a:r>
              <a:rPr spc="-65" dirty="0"/>
              <a:t>the</a:t>
            </a:r>
            <a:r>
              <a:rPr spc="-50" dirty="0"/>
              <a:t> </a:t>
            </a:r>
            <a:r>
              <a:rPr spc="-35" dirty="0"/>
              <a:t>numerical</a:t>
            </a:r>
            <a:r>
              <a:rPr spc="-90" dirty="0"/>
              <a:t> </a:t>
            </a:r>
            <a:r>
              <a:rPr spc="-110" dirty="0"/>
              <a:t>results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4804" y="390143"/>
            <a:ext cx="116839" cy="476250"/>
            <a:chOff x="11004804" y="390143"/>
            <a:chExt cx="116839" cy="476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86490" y="640439"/>
              <a:ext cx="23317" cy="366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4804" y="390143"/>
              <a:ext cx="116585" cy="4762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5723" y="321563"/>
            <a:ext cx="116585" cy="476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494" y="715115"/>
            <a:ext cx="23317" cy="4121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66417" y="2123389"/>
            <a:ext cx="8625205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Figures,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plots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obtained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tests.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clearly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differences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tests.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self-</a:t>
            </a:r>
            <a:r>
              <a:rPr sz="1800" spc="-20" dirty="0">
                <a:latin typeface="Calibri"/>
                <a:cs typeface="Calibri"/>
              </a:rPr>
              <a:t>explanatory,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meaningful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crops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or,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output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truth.</a:t>
            </a:r>
            <a:endParaRPr sz="1800">
              <a:latin typeface="Calibri"/>
              <a:cs typeface="Calibri"/>
            </a:endParaRPr>
          </a:p>
          <a:p>
            <a:pPr marL="12700" marR="2476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Choose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underline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methods.</a:t>
            </a:r>
            <a:r>
              <a:rPr sz="1800" spc="50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necessarily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experiments,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everything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experiments.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choice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evaluation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criteria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Conclusions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4804" y="390143"/>
            <a:ext cx="116839" cy="476250"/>
            <a:chOff x="11004804" y="390143"/>
            <a:chExt cx="116839" cy="476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86490" y="640439"/>
              <a:ext cx="23317" cy="366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4804" y="390143"/>
              <a:ext cx="116585" cy="4762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5723" y="321563"/>
            <a:ext cx="116585" cy="476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494" y="715115"/>
            <a:ext cx="23317" cy="4121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66417" y="1849373"/>
            <a:ext cx="85661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Here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sentences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summarize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reults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obtained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possible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future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developments.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4244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Bibliography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4804" y="390143"/>
            <a:ext cx="116839" cy="476250"/>
            <a:chOff x="11004804" y="390143"/>
            <a:chExt cx="116839" cy="476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86490" y="640439"/>
              <a:ext cx="23317" cy="366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4804" y="390143"/>
              <a:ext cx="116585" cy="4762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5723" y="321563"/>
            <a:ext cx="116585" cy="476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494" y="715115"/>
            <a:ext cx="23317" cy="4121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66417" y="1575053"/>
            <a:ext cx="4442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short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books/paper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133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Remainders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4804" y="390143"/>
            <a:ext cx="116839" cy="476250"/>
            <a:chOff x="11004804" y="390143"/>
            <a:chExt cx="116839" cy="476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86490" y="640439"/>
              <a:ext cx="23317" cy="366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4804" y="390143"/>
              <a:ext cx="116585" cy="4762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5723" y="321563"/>
            <a:ext cx="116585" cy="476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494" y="715115"/>
            <a:ext cx="23317" cy="4121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66417" y="1575053"/>
            <a:ext cx="8619490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remainders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exam.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uploaded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anywhere.</a:t>
            </a:r>
            <a:endParaRPr sz="1800">
              <a:latin typeface="Calibri"/>
              <a:cs typeface="Calibri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35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take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exam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eventually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discuss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choices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required.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35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can’t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exam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obtain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outputs.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included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presentation.</a:t>
            </a:r>
            <a:endParaRPr sz="1800">
              <a:latin typeface="Calibri"/>
              <a:cs typeface="Calibri"/>
            </a:endParaRPr>
          </a:p>
          <a:p>
            <a:pPr marL="299085" marR="11430" indent="-287020" algn="just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gven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about </a:t>
            </a:r>
            <a:r>
              <a:rPr sz="1800" dirty="0">
                <a:latin typeface="Calibri"/>
                <a:cs typeface="Calibri"/>
              </a:rPr>
              <a:t>45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minutes.</a:t>
            </a:r>
            <a:r>
              <a:rPr sz="1800" spc="-35" dirty="0">
                <a:latin typeface="Calibri"/>
                <a:cs typeface="Calibri"/>
              </a:rPr>
              <a:t> You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prefer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questions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whole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project.</a:t>
            </a:r>
            <a:endParaRPr sz="1800">
              <a:latin typeface="Calibri"/>
              <a:cs typeface="Calibri"/>
            </a:endParaRPr>
          </a:p>
          <a:p>
            <a:pPr marL="152400" algn="ctr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alibri"/>
                <a:cs typeface="Calibri"/>
              </a:rPr>
              <a:t>GOOD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WORK!</a:t>
            </a:r>
            <a:endParaRPr sz="1800">
              <a:latin typeface="Calibri"/>
              <a:cs typeface="Calibri"/>
            </a:endParaRPr>
          </a:p>
          <a:p>
            <a:pPr marL="149225" algn="ctr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alibri"/>
                <a:cs typeface="Calibri"/>
              </a:rPr>
              <a:t>Elena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10" dirty="0">
                <a:latin typeface="Calibri"/>
                <a:cs typeface="Calibri"/>
              </a:rPr>
              <a:t> Davide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451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5" baseType="lpstr">
      <vt:lpstr>Aptos</vt:lpstr>
      <vt:lpstr>Arial MT</vt:lpstr>
      <vt:lpstr>Calibri</vt:lpstr>
      <vt:lpstr>Tahoma</vt:lpstr>
      <vt:lpstr>Verdana</vt:lpstr>
      <vt:lpstr>Office Theme</vt:lpstr>
      <vt:lpstr>CI-CERVICAL-LBC</vt:lpstr>
      <vt:lpstr>Description of the project</vt:lpstr>
      <vt:lpstr>Methodology</vt:lpstr>
      <vt:lpstr>Implementation</vt:lpstr>
      <vt:lpstr>Introduce the experiments</vt:lpstr>
      <vt:lpstr>Presentation of the numerical results</vt:lpstr>
      <vt:lpstr>Conclusions</vt:lpstr>
      <vt:lpstr>Bibliography</vt:lpstr>
      <vt:lpstr>Remainders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</dc:creator>
  <cp:lastModifiedBy>Francesco Castaldi</cp:lastModifiedBy>
  <cp:revision>2</cp:revision>
  <dcterms:created xsi:type="dcterms:W3CDTF">2026-06-13T10:23:01Z</dcterms:created>
  <dcterms:modified xsi:type="dcterms:W3CDTF">2026-06-13T20:35:18Z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2026-04-21T00:00:00Z</vt:filetime>
  </property>
  <property fmtid="{D5CDD505-2E9C-101B-9397-08002B2CF9AE}" pid="4" name="Creator">
    <vt:lpwstr>Microsoft® PowerPoint® per Microsoft 365</vt:lpwstr>
  </property>
  <property fmtid="{D5CDD505-2E9C-101B-9397-08002B2CF9AE}" pid="5" name="LastSaved">
    <vt:filetime>2026-06-13T00:00:00Z</vt:filetime>
  </property>
  <property fmtid="{D5CDD505-2E9C-101B-9397-08002B2CF9AE}" pid="6" name="Producer">
    <vt:lpwstr>Microsoft® PowerPoint® per Microsoft 365</vt:lpwstr>
  </property>
  <property fmtid="{D5CDD505-2E9C-101B-9397-08002B2CF9AE}" pid="7" name="MSIP_Label_bd6a11ff-253c-4bad-ae0f-aa03ce5e55fe_Enabled">
    <vt:lpwstr>true</vt:lpwstr>
  </property>
  <property fmtid="{D5CDD505-2E9C-101B-9397-08002B2CF9AE}" pid="8" name="MSIP_Label_bd6a11ff-253c-4bad-ae0f-aa03ce5e55fe_SetDate">
    <vt:lpwstr>2026-06-13T10:24:48Z</vt:lpwstr>
  </property>
  <property fmtid="{D5CDD505-2E9C-101B-9397-08002B2CF9AE}" pid="9" name="MSIP_Label_bd6a11ff-253c-4bad-ae0f-aa03ce5e55fe_Method">
    <vt:lpwstr>Standard</vt:lpwstr>
  </property>
  <property fmtid="{D5CDD505-2E9C-101B-9397-08002B2CF9AE}" pid="10" name="MSIP_Label_bd6a11ff-253c-4bad-ae0f-aa03ce5e55fe_Name">
    <vt:lpwstr>Internal Use</vt:lpwstr>
  </property>
  <property fmtid="{D5CDD505-2E9C-101B-9397-08002B2CF9AE}" pid="11" name="MSIP_Label_bd6a11ff-253c-4bad-ae0f-aa03ce5e55fe_SiteId">
    <vt:lpwstr>b7d887ff-19c9-4884-a5c6-416ae21337ae</vt:lpwstr>
  </property>
  <property fmtid="{D5CDD505-2E9C-101B-9397-08002B2CF9AE}" pid="12" name="MSIP_Label_bd6a11ff-253c-4bad-ae0f-aa03ce5e55fe_ActionId">
    <vt:lpwstr>617a60de-e218-42e7-b549-3f8a429fa181</vt:lpwstr>
  </property>
  <property fmtid="{D5CDD505-2E9C-101B-9397-08002B2CF9AE}" pid="13" name="MSIP_Label_bd6a11ff-253c-4bad-ae0f-aa03ce5e55fe_ContentBits">
    <vt:lpwstr>1</vt:lpwstr>
  </property>
  <property fmtid="{D5CDD505-2E9C-101B-9397-08002B2CF9AE}" pid="14" name="MSIP_Label_bd6a11ff-253c-4bad-ae0f-aa03ce5e55fe_Tag">
    <vt:lpwstr>10, 3, 0, 1</vt:lpwstr>
  </property>
  <property fmtid="{D5CDD505-2E9C-101B-9397-08002B2CF9AE}" pid="15" name="ClassificationContentMarkingHeaderLocations">
    <vt:lpwstr>Office Theme:8</vt:lpwstr>
  </property>
  <property fmtid="{D5CDD505-2E9C-101B-9397-08002B2CF9AE}" pid="16" name="ClassificationContentMarkingHeaderText">
    <vt:lpwstr>CONTENUTO AD USO INTERNO E/O DI TERZI AUTORIZZATI</vt:lpwstr>
  </property>
</Properties>
</file>